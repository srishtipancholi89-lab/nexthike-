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Arial"/>
              </a:rPr>
              <a:t>Skewness by Variable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Discount %</c:v>
                </c:pt>
                <c:pt idx="1">
                  <c:v>Age</c:v>
                </c:pt>
                <c:pt idx="2">
                  <c:v>Delivery Days</c:v>
                </c:pt>
                <c:pt idx="3">
                  <c:v>Quantity</c:v>
                </c:pt>
                <c:pt idx="4">
                  <c:v>Product Price</c:v>
                </c:pt>
                <c:pt idx="5">
                  <c:v>Final Price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0.23</c:v>
                </c:pt>
                <c:pt idx="2">
                  <c:v>0.47</c:v>
                </c:pt>
                <c:pt idx="3">
                  <c:v>0.7</c:v>
                </c:pt>
                <c:pt idx="4">
                  <c:v>5.83</c:v>
                </c:pt>
                <c:pt idx="5">
                  <c:v>21.53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CE-4BE3-9699-DC79A9CFC7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chemeClr val="tx1"/>
                </a:solidFill>
                <a:latin typeface="Arial"/>
              </a:rPr>
              <a:t>Correlation of Variables with Final</a:t>
            </a:r>
            <a:r>
              <a:rPr lang="en-US" sz="1300" b="0" i="0" u="none" strike="noStrike" baseline="0" dirty="0">
                <a:solidFill>
                  <a:schemeClr val="tx1"/>
                </a:solidFill>
                <a:latin typeface="Arial"/>
              </a:rPr>
              <a:t> P</a:t>
            </a:r>
            <a:r>
              <a:rPr lang="en-US" sz="1300" b="0" i="0" u="none" strike="noStrike" dirty="0">
                <a:solidFill>
                  <a:schemeClr val="tx1"/>
                </a:solidFill>
                <a:latin typeface="Arial"/>
              </a:rPr>
              <a:t>rice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Final_price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Quantity</c:v>
                </c:pt>
                <c:pt idx="1">
                  <c:v>Discount Amount</c:v>
                </c:pt>
                <c:pt idx="2">
                  <c:v>Product Price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0.21099999999999999</c:v>
                </c:pt>
                <c:pt idx="1">
                  <c:v>0.55900000000000005</c:v>
                </c:pt>
                <c:pt idx="2">
                  <c:v>0.61099999999999999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F-4154-A047-EB075286E5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Arial"/>
              </a:rPr>
              <a:t>Average Final_price by Category and Discount Band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6595003062637685E-2"/>
          <c:y val="0.10112847222222224"/>
          <c:w val="0.94340499693736235"/>
          <c:h val="0.75881520669291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(0-10%)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Clothing</c:v>
                </c:pt>
                <c:pt idx="4">
                  <c:v>Toys</c:v>
                </c:pt>
                <c:pt idx="5">
                  <c:v>Beauty</c:v>
                </c:pt>
                <c:pt idx="6">
                  <c:v>Books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424.3</c:v>
                </c:pt>
                <c:pt idx="1">
                  <c:v>220.5</c:v>
                </c:pt>
                <c:pt idx="2">
                  <c:v>181.8</c:v>
                </c:pt>
                <c:pt idx="3">
                  <c:v>135.9</c:v>
                </c:pt>
                <c:pt idx="4">
                  <c:v>121.7</c:v>
                </c:pt>
                <c:pt idx="5">
                  <c:v>108.5</c:v>
                </c:pt>
                <c:pt idx="6">
                  <c:v>69.599999999999994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5-42AB-A726-B652E7170E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(10-20%)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Clothing</c:v>
                </c:pt>
                <c:pt idx="4">
                  <c:v>Toys</c:v>
                </c:pt>
                <c:pt idx="5">
                  <c:v>Beauty</c:v>
                </c:pt>
                <c:pt idx="6">
                  <c:v>Books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388.6</c:v>
                </c:pt>
                <c:pt idx="1">
                  <c:v>199.3</c:v>
                </c:pt>
                <c:pt idx="2">
                  <c:v>179.4</c:v>
                </c:pt>
                <c:pt idx="3">
                  <c:v>127.9</c:v>
                </c:pt>
                <c:pt idx="4">
                  <c:v>105.3</c:v>
                </c:pt>
                <c:pt idx="5">
                  <c:v>88.5</c:v>
                </c:pt>
                <c:pt idx="6">
                  <c:v>60.8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15-42AB-A726-B652E7170E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(20-30%)</c:v>
                </c:pt>
              </c:strCache>
            </c:strRef>
          </c:tx>
          <c:spPr>
            <a:solidFill>
              <a:srgbClr val="9FC6D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Clothing</c:v>
                </c:pt>
                <c:pt idx="4">
                  <c:v>Toys</c:v>
                </c:pt>
                <c:pt idx="5">
                  <c:v>Beauty</c:v>
                </c:pt>
                <c:pt idx="6">
                  <c:v>Books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334.7</c:v>
                </c:pt>
                <c:pt idx="1">
                  <c:v>168.6</c:v>
                </c:pt>
                <c:pt idx="2">
                  <c:v>147.9</c:v>
                </c:pt>
                <c:pt idx="3">
                  <c:v>111.2</c:v>
                </c:pt>
                <c:pt idx="4">
                  <c:v>92</c:v>
                </c:pt>
                <c:pt idx="5">
                  <c:v>78.8</c:v>
                </c:pt>
                <c:pt idx="6">
                  <c:v>55.2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15-42AB-A726-B652E7170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1818537076767788"/>
          <c:y val="9.5220682050160405E-2"/>
          <c:w val="0.35622178933656323"/>
          <c:h val="8.3020058690580351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Arial"/>
              </a:rPr>
              <a:t>Return Rate (%) by Delivery-Days Bin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Shipping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1-2 days</c:v>
                </c:pt>
                <c:pt idx="1">
                  <c:v>3-5 days</c:v>
                </c:pt>
                <c:pt idx="2">
                  <c:v>6-8 days</c:v>
                </c:pt>
                <c:pt idx="3">
                  <c:v>9+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11.6</c:v>
                </c:pt>
                <c:pt idx="1">
                  <c:v>13.4</c:v>
                </c:pt>
                <c:pt idx="2">
                  <c:v>16.2</c:v>
                </c:pt>
                <c:pt idx="3">
                  <c:v>19.100000000000001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6F-4EA2-BC1C-A1431D5C10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Express Shipping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1-2 days</c:v>
                </c:pt>
                <c:pt idx="1">
                  <c:v>3-5 days</c:v>
                </c:pt>
                <c:pt idx="2">
                  <c:v>6-8 days</c:v>
                </c:pt>
                <c:pt idx="3">
                  <c:v>9+ days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</c:v>
                </c:pt>
                <c:pt idx="1">
                  <c:v>13</c:v>
                </c:pt>
                <c:pt idx="2">
                  <c:v>16.7</c:v>
                </c:pt>
                <c:pt idx="3">
                  <c:v>15.7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6F-4EA2-BC1C-A1431D5C10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2062689509701698"/>
          <c:y val="0.13802679585264607"/>
          <c:w val="0.44961378971464183"/>
          <c:h val="5.5235615494871652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Arial"/>
              </a:rPr>
              <a:t>Customer Segment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tx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30-4ECF-B64C-531C194144AC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B30-4ECF-B64C-531C194144AC}"/>
              </c:ext>
            </c:extLst>
          </c:dPt>
          <c:dPt>
            <c:idx val="2"/>
            <c:bubble3D val="0"/>
            <c:spPr>
              <a:solidFill>
                <a:srgbClr val="6FA8C2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B30-4ECF-B64C-531C194144AC}"/>
              </c:ext>
            </c:extLst>
          </c:dPt>
          <c:dPt>
            <c:idx val="3"/>
            <c:bubble3D val="0"/>
            <c:spPr>
              <a:solidFill>
                <a:srgbClr val="B7D4E3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B30-4ECF-B64C-531C194144AC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B30-4ECF-B64C-531C194144AC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30-4ECF-B64C-531C194144AC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30-4ECF-B64C-531C194144AC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B30-4ECF-B64C-531C194144AC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Regular</c:v>
                </c:pt>
                <c:pt idx="1">
                  <c:v>Premium</c:v>
                </c:pt>
                <c:pt idx="2">
                  <c:v>New</c:v>
                </c:pt>
                <c:pt idx="3">
                  <c:v>Inactive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54.8</c:v>
                </c:pt>
                <c:pt idx="1">
                  <c:v>20.2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30-4ECF-B64C-531C19414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228864910404717E-2"/>
          <c:y val="0.92362418692228687"/>
          <c:w val="0.83999060302647355"/>
          <c:h val="5.8259871048727603E-2"/>
        </c:manualLayout>
      </c:layout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Arial"/>
              </a:rPr>
              <a:t>Return Rate (%) by Product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Clothing</c:v>
                </c:pt>
                <c:pt idx="2">
                  <c:v>Sports</c:v>
                </c:pt>
                <c:pt idx="3">
                  <c:v>Toys</c:v>
                </c:pt>
                <c:pt idx="4">
                  <c:v>Books</c:v>
                </c:pt>
                <c:pt idx="5">
                  <c:v>Home &amp; Kitchen</c:v>
                </c:pt>
                <c:pt idx="6">
                  <c:v>Beauty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12.6</c:v>
                </c:pt>
                <c:pt idx="2">
                  <c:v>12.1</c:v>
                </c:pt>
                <c:pt idx="3">
                  <c:v>12</c:v>
                </c:pt>
                <c:pt idx="4">
                  <c:v>11.9</c:v>
                </c:pt>
                <c:pt idx="5">
                  <c:v>11.8</c:v>
                </c:pt>
                <c:pt idx="6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36-4827-BE5A-E2B9A423B9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55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/>
          <p:nvPr/>
        </p:nvSpPr>
        <p:spPr>
          <a:xfrm>
            <a:off x="74070" y="-1051560"/>
            <a:ext cx="121890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8778240" y="-1920240"/>
            <a:ext cx="5486400" cy="54864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3049" y="-106975"/>
            <a:ext cx="121890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B8D6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8FB8D6"/>
                </a:solidFill>
                <a:latin typeface="Calibri"/>
                <a:ea typeface="Calibri"/>
                <a:cs typeface="Calibri"/>
                <a:sym typeface="Calibri"/>
              </a:rPr>
              <a:t>NEXTHIKES IT SOLUTIONS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098167" y="858471"/>
            <a:ext cx="9601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Retail Transaction EDA 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822960" y="3246120"/>
            <a:ext cx="9601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Key Business Insights &amp; Conclusion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822960" y="493776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B8D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8FB8D6"/>
                </a:solidFill>
                <a:latin typeface="Calibri"/>
                <a:ea typeface="Calibri"/>
                <a:cs typeface="Calibri"/>
                <a:sym typeface="Calibri"/>
              </a:rPr>
              <a:t>100,000 Transactions  |  18 Variables  |  Univariate • Bivariate • Multivariate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822960" y="612648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3B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E93B3"/>
                </a:solidFill>
                <a:latin typeface="Calibri"/>
                <a:ea typeface="Calibri"/>
                <a:cs typeface="Calibri"/>
                <a:sym typeface="Calibri"/>
              </a:rPr>
              <a:t>Submission Date: 25th September,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79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77664" y="1164656"/>
            <a:ext cx="11079767" cy="1406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4007" y="3001989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3656" y="299284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7797" y="2944541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&amp; Dataset Overview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07060" y="2965593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7060" y="2948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76872" y="28867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&amp; Pricing Insights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4264" y="414758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3464" y="413722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073566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Discounting, Outliers &amp; Purchase Behavior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05618" y="408806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12238" y="407944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1385" y="402250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Delivery, Returns &amp; Category Performance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3464" y="53483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5541" y="534941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57797" y="53218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Multivariate Patterns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16257" y="532612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16257" y="532094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525694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Recommendations &amp; Conclusion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927685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02921"/>
            <a:ext cx="5760720" cy="4206240"/>
          </a:xfrm>
          <a:prstGeom prst="rect">
            <a:avLst/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51206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detailed Exploratory Data Analysis on a large-scale retail transaction dataset to uncover statistical patterns, relationships, and business-relevant anomalies before predictive modeling.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68680" y="3867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7673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 univariate, bivariate &amp; multivariate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27024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696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interpret outliers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6725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correlation between numerical variables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50749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743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skewness and kurtosis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547725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376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statistically meaningful business insights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8" name="Text 16"/>
          <p:cNvSpPr/>
          <p:nvPr/>
        </p:nvSpPr>
        <p:spPr>
          <a:xfrm>
            <a:off x="6903720" y="2359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670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array objects &amp; numerical operations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32004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21" name="Text 19"/>
          <p:cNvSpPr/>
          <p:nvPr/>
        </p:nvSpPr>
        <p:spPr>
          <a:xfrm>
            <a:off x="6903720" y="32735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35844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cleaning &amp; aggregation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41148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24" name="Text 22"/>
          <p:cNvSpPr/>
          <p:nvPr/>
        </p:nvSpPr>
        <p:spPr>
          <a:xfrm>
            <a:off x="6903720" y="41879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2D plotting &amp; visualization engine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50292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27" name="Text 25"/>
          <p:cNvSpPr/>
          <p:nvPr/>
        </p:nvSpPr>
        <p:spPr>
          <a:xfrm>
            <a:off x="6903720" y="51023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54132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 built on Matplotlib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8" name="Text 6"/>
          <p:cNvSpPr/>
          <p:nvPr/>
        </p:nvSpPr>
        <p:spPr>
          <a:xfrm>
            <a:off x="338328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Analyzed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1" name="Text 9"/>
          <p:cNvSpPr/>
          <p:nvPr/>
        </p:nvSpPr>
        <p:spPr>
          <a:xfrm>
            <a:off x="621792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Categorical, Numerical, Date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4" name="Text 12"/>
          <p:cNvSpPr/>
          <p:nvPr/>
        </p:nvSpPr>
        <p:spPr>
          <a:xfrm>
            <a:off x="905256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Covered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64240" cy="123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31388" y="5310413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548640" y="5293161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61488" y="5310416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2761488" y="530180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74336" y="5310411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4974336" y="531904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87184" y="530179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24" name="Text 22"/>
          <p:cNvSpPr/>
          <p:nvPr/>
        </p:nvSpPr>
        <p:spPr>
          <a:xfrm>
            <a:off x="7187184" y="52931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00032" y="5275906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26" name="Text 24"/>
          <p:cNvSpPr/>
          <p:nvPr/>
        </p:nvSpPr>
        <p:spPr>
          <a:xfrm>
            <a:off x="9400032" y="529315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97120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548640" y="5962571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61488" y="596257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30" name="Text 28"/>
          <p:cNvSpPr/>
          <p:nvPr/>
        </p:nvSpPr>
        <p:spPr>
          <a:xfrm>
            <a:off x="2761488" y="597120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74336" y="595395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32" name="Text 30"/>
          <p:cNvSpPr/>
          <p:nvPr/>
        </p:nvSpPr>
        <p:spPr>
          <a:xfrm>
            <a:off x="4974336" y="5953951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87184" y="5936703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7187184" y="5919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Return_status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00032" y="5919445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36" name="Text 34"/>
          <p:cNvSpPr/>
          <p:nvPr/>
        </p:nvSpPr>
        <p:spPr>
          <a:xfrm>
            <a:off x="9400032" y="5902179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0F0B7D-0B20-5816-6898-B833D0AE0054}"/>
              </a:ext>
            </a:extLst>
          </p:cNvPr>
          <p:cNvSpPr txBox="1"/>
          <p:nvPr/>
        </p:nvSpPr>
        <p:spPr>
          <a:xfrm>
            <a:off x="2389517" y="4942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 : UNIVARIATE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Distribution Is Heavily Right-Skewed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21.53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037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Skewness of Final_price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26211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26211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Kurtosis (extreme heavy tail)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26211" y="35890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26211" y="416966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Skewness of Product_price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6211" y="47868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522588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large/bulk transactions pull the distribution's tail far to the right — typical of retail revenue concentration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3257378400"/>
              </p:ext>
            </p:extLst>
          </p:nvPr>
        </p:nvGraphicFramePr>
        <p:xfrm>
          <a:off x="4937760" y="182880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411480"/>
            <a:ext cx="1110996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· CORRELATION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897147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Price Is the Primary Revenue Driver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40456258"/>
              </p:ext>
            </p:extLst>
          </p:nvPr>
        </p:nvGraphicFramePr>
        <p:xfrm>
          <a:off x="548640" y="173736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92024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6" name="Text 3"/>
          <p:cNvSpPr/>
          <p:nvPr/>
        </p:nvSpPr>
        <p:spPr>
          <a:xfrm>
            <a:off x="7498080" y="2029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0.61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0" y="2423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shows the strongest positive correlation with Final_price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69480" y="333756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9" name="Text 6"/>
          <p:cNvSpPr/>
          <p:nvPr/>
        </p:nvSpPr>
        <p:spPr>
          <a:xfrm>
            <a:off x="7498080" y="3447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0.21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0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Quantity contributes moderately — bulk orders add up, but price leads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69480" y="475488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2" name="Text 9"/>
          <p:cNvSpPr/>
          <p:nvPr/>
        </p:nvSpPr>
        <p:spPr>
          <a:xfrm>
            <a:off x="7498080" y="4864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Negligible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98080" y="5257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Delivery_days &amp; Discount % all fall under ±0.05 — no meaningful link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 :BIVARIATE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8915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Discounts Maximize Average Revenue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433239777"/>
              </p:ext>
            </p:extLst>
          </p:nvPr>
        </p:nvGraphicFramePr>
        <p:xfrm>
          <a:off x="948905" y="1783080"/>
          <a:ext cx="9601201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earns its highest average order value at low discount levels — aggressive discounting erodes revenue per order rather than growing 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 : OUTLIER DETECTION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Represent Genuine High-Value Purchases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9.19%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700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Final_price flagged as IQR outliers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416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those outliers are Electronics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3.98 vs 3.0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132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avg quantity: outliers vs overall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7315200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1" name="Text 9"/>
          <p:cNvSpPr/>
          <p:nvPr/>
        </p:nvSpPr>
        <p:spPr>
          <a:xfrm>
            <a:off x="4572000" y="2103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0" y="27066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5603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detected using Boxplots, the IQR method, and Z-scores — not a single blunt threshold.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4838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33375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outliers correspond to bulk purchases and premium categories, not data entry errors.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2611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41148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transactions were intentionally not removed — they may represent legitimate high-value customers.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50383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48920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(&gt;3) flags a much tighter 1.06% of records — useful for fraud/anomaly flags vs. the broader 9.19% IQR view.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 · OPERATIONS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01040" y="937261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 Increase Return Risk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92660292"/>
              </p:ext>
            </p:extLst>
          </p:nvPr>
        </p:nvGraphicFramePr>
        <p:xfrm>
          <a:off x="548640" y="178308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2011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58952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for Standard shipping when delivery takes 9+ days — the highest across all bins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3794760"/>
            <a:ext cx="3931920" cy="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4023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589520" y="4572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across the full dataset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06 · CUSTOMER BEHAVIOR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Show Distinct Patterns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750692"/>
              </p:ext>
            </p:extLst>
          </p:nvPr>
        </p:nvGraphicFramePr>
        <p:xfrm>
          <a:off x="548640" y="182880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920240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6" name="Text 3"/>
          <p:cNvSpPr/>
          <p:nvPr/>
        </p:nvSpPr>
        <p:spPr>
          <a:xfrm>
            <a:off x="6080760" y="2057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0" y="20574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fall into the Regular segment — the backbone of transaction volume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3337560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9" name="Text 6"/>
          <p:cNvSpPr/>
          <p:nvPr/>
        </p:nvSpPr>
        <p:spPr>
          <a:xfrm>
            <a:off x="6080760" y="3474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among Premium customers shows the highest average spending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4754880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2" name="Text 9"/>
          <p:cNvSpPr/>
          <p:nvPr/>
        </p:nvSpPr>
        <p:spPr>
          <a:xfrm>
            <a:off x="6080760" y="4892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498080" y="4892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Premium, yet they punch above their weight in order value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07 : CATEGORY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Volume — and Returns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856408871"/>
              </p:ext>
            </p:extLst>
          </p:nvPr>
        </p:nvGraphicFramePr>
        <p:xfrm>
          <a:off x="548640" y="178308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9202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589520" y="26060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transactions come from Electronics — the highest-volume category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3520440"/>
            <a:ext cx="39319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37033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combines the highest transaction share with the highest return rate (~17%) — a strong candidate for improved product descriptions, imagery, and QA checks.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08 : CORRELATION STUDY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Correlation Structure — No Multicollinearity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36684"/>
              </p:ext>
            </p:extLst>
          </p:nvPr>
        </p:nvGraphicFramePr>
        <p:xfrm>
          <a:off x="594360" y="1994420"/>
          <a:ext cx="6629400" cy="4325982"/>
        </p:xfrm>
        <a:graphic>
          <a:graphicData uri="http://schemas.openxmlformats.org/drawingml/2006/table">
            <a:tbl>
              <a:tblPr/>
              <a:tblGrid>
                <a:gridCol w="2996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(r)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 ↔ Final_price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Discount_amount ↔ Final_price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↔ Final_price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Weak-moderate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↔ 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↔ 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 ↔ 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8308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6" name="Text 3"/>
          <p:cNvSpPr/>
          <p:nvPr/>
        </p:nvSpPr>
        <p:spPr>
          <a:xfrm>
            <a:off x="781812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Read-Out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818120" y="2514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heatmap across all numerical variables confirmed that Final_price is driven mainly by price and discount amount — not by unrelated factors like age or delivery time. No pair exceeded 0.9, so multicollinearity is not a concern for downstream modeling.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09 : MULTIVARIATE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881447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Three-Way Interactions Reveal Deeper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5" name="Shape 3"/>
          <p:cNvSpPr/>
          <p:nvPr/>
        </p:nvSpPr>
        <p:spPr>
          <a:xfrm>
            <a:off x="868680" y="21854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11096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× Discount × Final Price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0" y="1911096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with low-to-moderate discounts generates the highest average revenue per order (₹424 at 0-10% discount).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0" name="Shape 8"/>
          <p:cNvSpPr/>
          <p:nvPr/>
        </p:nvSpPr>
        <p:spPr>
          <a:xfrm>
            <a:off x="868680" y="36667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392424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× Customer Segment × Final Price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3392424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aged 30-45 (and 56-75) show the highest average spending among all segment-age combinations.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4F8FA"/>
          </a:solidFill>
          <a:ln>
            <a:solidFill>
              <a:schemeClr val="tx1"/>
            </a:solidFill>
          </a:ln>
        </p:spPr>
      </p:sp>
      <p:sp>
        <p:nvSpPr>
          <p:cNvPr id="15" name="Shape 13"/>
          <p:cNvSpPr/>
          <p:nvPr/>
        </p:nvSpPr>
        <p:spPr>
          <a:xfrm>
            <a:off x="868680" y="5148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87375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Days × Shipping Type × Return Status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487375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 paired with 9+ day delivery windows drives the highest return rate (19.1%) of any combination.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10 : DISTRIBUTION SHAPE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79120" y="833657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 &amp; Kurtosis Interpretation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704981"/>
              </p:ext>
            </p:extLst>
          </p:nvPr>
        </p:nvGraphicFramePr>
        <p:xfrm>
          <a:off x="548640" y="1783080"/>
          <a:ext cx="11064240" cy="43525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heavy tail — bulk/high-value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low-priced, few expensive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lean toward small basket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Near-symmetric, thin 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normal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Discount_percentage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spread, no tail (platykurtic)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: PART 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67512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Inventory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 moderate discounting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22402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promotional discounts around 10-15% — revenue per order declines steadily beyond this range across every category.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high-value / bulk orders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transactions are genuine premium purchases; build dedicated fulfillment and support paths rather than filtering them 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709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Electronics inventory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25880" y="5166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highest-volume category, ensure stock depth and accurate listings to sustain its revenue contribution.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· PART 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01040" y="953046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Logistics, Returns &amp; Customer Targeting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Tighten Standard-shipping SLAs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22402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climbs to 19.1% once Standard deliveries exceed 9 days — tightening delivery windows should directly reduce returns.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Electronics quality &amp; listings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shows the highest return rate (~17%) alongside the highest volume — review product descriptions, imagery, and packaging.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709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engagement with Premium 30-45 &amp; 56-65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25880" y="5166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segment-age combinations spend the most — targeted loyalty offers here carry outsized ROI.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8474"/>
            <a:ext cx="10332720" cy="997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Statistical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EDA successfully applied univariate, bivariate, and multivariate techniques — alongside correlation, outlier, and skewness/kurtosis analysis — to a 100,000-row retail dataset. The result is a validated, statistically grounded view of pricing behavior, customer segments, and operational risk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575304"/>
            <a:ext cx="146304" cy="146304"/>
          </a:xfrm>
          <a:prstGeom prst="ellipse">
            <a:avLst/>
          </a:prstGeom>
          <a:solidFill>
            <a:srgbClr val="9FC6D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290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</a:t>
            </a:r>
            <a:r>
              <a:rPr lang="en-US" sz="1600" dirty="0">
                <a:solidFill>
                  <a:srgbClr val="B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right-skewed and concentrated in high-value / bulk transactions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43984"/>
            <a:ext cx="146304" cy="146304"/>
          </a:xfrm>
          <a:prstGeom prst="ellipse">
            <a:avLst/>
          </a:prstGeom>
          <a:solidFill>
            <a:srgbClr val="9FC6D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297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</a:t>
            </a:r>
            <a:r>
              <a:rPr lang="en-US" sz="1600" dirty="0">
                <a:solidFill>
                  <a:srgbClr val="B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quantity or discounting, is the dominant driver of order value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5312664"/>
            <a:ext cx="146304" cy="146304"/>
          </a:xfrm>
          <a:prstGeom prst="ellipse">
            <a:avLst/>
          </a:prstGeom>
          <a:solidFill>
            <a:srgbClr val="9FC6D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166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 </a:t>
            </a:r>
            <a:r>
              <a:rPr lang="en-US" sz="1600" dirty="0">
                <a:solidFill>
                  <a:srgbClr val="B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directly linked to return risk — an operational lever, not just a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6051109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